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65" r:id="rId14"/>
    <p:sldId id="268" r:id="rId15"/>
    <p:sldId id="269" r:id="rId16"/>
    <p:sldId id="270" r:id="rId17"/>
    <p:sldId id="266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57712"/>
            <a:ext cx="8229600" cy="1499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Classify a satellite image using a neural network ensemble and majority rule (ensemble is created by varying the number of hidden layers and hidden nodes) and compare the results with classification using a single neural network. </a:t>
            </a:r>
            <a:endParaRPr lang="en-US" sz="2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2706624"/>
            <a:ext cx="365760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140400" y="2935296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GNR 602 — Advance Satellite Image Processing</a:t>
            </a:r>
            <a:endParaRPr lang="en-US" sz="1500" dirty="0"/>
          </a:p>
        </p:txBody>
      </p:sp>
      <p:sp>
        <p:nvSpPr>
          <p:cNvPr id="3" name="TextBox 2"/>
          <p:cNvSpPr txBox="1"/>
          <p:nvPr/>
        </p:nvSpPr>
        <p:spPr>
          <a:xfrm>
            <a:off x="6288258" y="3685734"/>
            <a:ext cx="25110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Project by </a:t>
            </a:r>
            <a:endParaRPr lang="en-IN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  Neeraj Datar           25M2165</a:t>
            </a:r>
            <a:endParaRPr lang="en-IN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  </a:t>
            </a:r>
            <a:r>
              <a:rPr lang="en-IN" sz="11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Satyendranath</a:t>
            </a:r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kar</a:t>
            </a:r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25M0301</a:t>
            </a:r>
            <a:endParaRPr lang="en-IN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  Kajal Kumari             25M0325</a:t>
            </a:r>
            <a:endParaRPr lang="en-IN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8686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Pixel-Level Classification?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8463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a class label to every individual pixel in an image — not just the whole image.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pixel = one prediction from 6 land-cover categories.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object detection, no bounding boxes — pure dense labelling.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Does It Matter?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846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 planning — detect roads, buildings, vegetation.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Disaster response — identify flooded or damaged areas.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Agriculture — monitor crop health and land use.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Legend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20040" cy="274320"/>
          </a:xfrm>
          <a:prstGeom prst="rect">
            <a:avLst/>
          </a:prstGeom>
          <a:solidFill>
            <a:srgbClr val="5B2D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3716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320040" cy="274320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874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 (unpaved)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377440"/>
            <a:ext cx="320040" cy="274320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377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2880360"/>
            <a:ext cx="320040" cy="274320"/>
          </a:xfrm>
          <a:prstGeom prst="rect">
            <a:avLst/>
          </a:prstGeom>
          <a:solidFill>
            <a:srgbClr val="EAB30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880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Vegetation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383280"/>
            <a:ext cx="320040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383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3886200"/>
            <a:ext cx="320040" cy="274320"/>
          </a:xfrm>
          <a:prstGeom prst="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44302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Object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17920" y="3934851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Unlabeled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Shape 2"/>
          <p:cNvSpPr/>
          <p:nvPr/>
        </p:nvSpPr>
        <p:spPr>
          <a:xfrm>
            <a:off x="365760" y="868680"/>
            <a:ext cx="1920240" cy="1463040"/>
          </a:xfrm>
          <a:prstGeom prst="rect">
            <a:avLst/>
          </a:prstGeom>
          <a:solidFill>
            <a:srgbClr val="1B2B3B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9280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Kaggle: Multi-Source Satellite Imagery for Segmentation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1920240" cy="1463040"/>
          </a:xfrm>
          <a:prstGeom prst="rect">
            <a:avLst/>
          </a:prstGeom>
          <a:solidFill>
            <a:srgbClr val="1B2B3B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91440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256×256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89280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Resized for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37260"/>
            <a:ext cx="1920240" cy="1463040"/>
          </a:xfrm>
          <a:prstGeom prst="rect">
            <a:avLst/>
          </a:prstGeom>
          <a:solidFill>
            <a:srgbClr val="1B2B3B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663440" y="91440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Split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89280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 held for validation and 10% for  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868680"/>
            <a:ext cx="1920240" cy="1463040"/>
          </a:xfrm>
          <a:prstGeom prst="rect">
            <a:avLst/>
          </a:prstGeom>
          <a:solidFill>
            <a:srgbClr val="1B2B3B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89280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Building, Land, Road,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Veg, Water, Unlabeled and object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 &amp; Pairing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2926080"/>
            <a:ext cx="84124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satellite image (.jpg) paired with a colour-coded mask (.png).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Masks encode land-cover with unique RGB colours per class — scanned to build a Look-Up Table.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sampling: up to 200,000 pixels randomly drawn per image to balance memory and coverage.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Shape 2"/>
          <p:cNvSpPr/>
          <p:nvPr/>
        </p:nvSpPr>
        <p:spPr>
          <a:xfrm>
            <a:off x="274320" y="16459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00B4D8">
              <a:alpha val="8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2148840"/>
            <a:ext cx="201168" cy="0"/>
          </a:xfrm>
          <a:prstGeom prst="line">
            <a:avLst/>
          </a:prstGeom>
          <a:noFill/>
          <a:ln w="19050">
            <a:solidFill>
              <a:srgbClr val="8BAA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1368" y="16459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48CAE4">
              <a:alpha val="8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2148840"/>
            <a:ext cx="201168" cy="0"/>
          </a:xfrm>
          <a:prstGeom prst="line">
            <a:avLst/>
          </a:prstGeom>
          <a:noFill/>
          <a:ln w="19050">
            <a:solidFill>
              <a:srgbClr val="8BAA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6459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4361EE">
              <a:alpha val="80000"/>
            </a:srgbClr>
          </a:solidFill>
          <a:ln w="1905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NN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4296" y="2148840"/>
            <a:ext cx="201168" cy="0"/>
          </a:xfrm>
          <a:prstGeom prst="line">
            <a:avLst/>
          </a:prstGeom>
          <a:noFill/>
          <a:ln w="19050">
            <a:solidFill>
              <a:srgbClr val="8BAA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55464" y="16459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9B5DE5">
              <a:alpha val="80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01168" cy="0"/>
          </a:xfrm>
          <a:prstGeom prst="line">
            <a:avLst/>
          </a:prstGeom>
          <a:noFill/>
          <a:ln w="19050">
            <a:solidFill>
              <a:srgbClr val="8BAA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6459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D166">
              <a:alpha val="8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08392" y="2148840"/>
            <a:ext cx="201168" cy="0"/>
          </a:xfrm>
          <a:prstGeom prst="line">
            <a:avLst/>
          </a:prstGeom>
          <a:noFill/>
          <a:ln w="19050">
            <a:solidFill>
              <a:srgbClr val="8BAA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1645920"/>
            <a:ext cx="1124712" cy="1005840"/>
          </a:xfrm>
          <a:prstGeom prst="roundRect">
            <a:avLst>
              <a:gd name="adj" fmla="val 7273"/>
            </a:avLst>
          </a:prstGeom>
          <a:solidFill>
            <a:srgbClr val="06D6A0">
              <a:alpha val="8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645920"/>
            <a:ext cx="1325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(Streamlit)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01368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LUT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Sample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3→8→6→7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ReLU+Softmax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5464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MLPs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 LR+Seed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82512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 Acc and Test Acc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274320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pipeline from raw satellite imagery to interactive web app, comparing a single MLP baseline against a 5-member ensemble using majority voting.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Shape 2"/>
          <p:cNvSpPr/>
          <p:nvPr/>
        </p:nvSpPr>
        <p:spPr>
          <a:xfrm>
            <a:off x="274320" y="91440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6916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41148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 Mapping (LUT)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Scans all mask files to find unique RGB colours → assigns an integer label per class. Builds a 256³ Look-Up Table (tensor) for O(1) decoding.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54864" cy="169164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10" name="Text 8"/>
          <p:cNvSpPr/>
          <p:nvPr/>
        </p:nvSpPr>
        <p:spPr>
          <a:xfrm>
            <a:off x="333756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Resizing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images and masks resized to 256×256. Images: bilinear interpolation. Masks: nearest-neighbour (preserves class boundaries).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54864" cy="169164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14" name="Text 12"/>
          <p:cNvSpPr/>
          <p:nvPr/>
        </p:nvSpPr>
        <p:spPr>
          <a:xfrm>
            <a:off x="626364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256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×256 image provides 65536 pixels per epouch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Pixels normalised to [0, 1] (÷255).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54864" cy="169164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8" name="Text 16"/>
          <p:cNvSpPr/>
          <p:nvPr/>
        </p:nvSpPr>
        <p:spPr>
          <a:xfrm>
            <a:off x="411480" y="2880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70/20/10 Train-Val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of image pairs used for training, 20% held out for validation and 10% held out for test. Split uses fixed seed=42 for reproducibility.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54864" cy="1691640"/>
          </a:xfrm>
          <a:prstGeom prst="rect">
            <a:avLst/>
          </a:prstGeom>
          <a:solidFill>
            <a:srgbClr val="9B5DE5"/>
          </a:solidFill>
        </p:spPr>
      </p:sp>
      <p:sp>
        <p:nvSpPr>
          <p:cNvPr id="22" name="Text 20"/>
          <p:cNvSpPr/>
          <p:nvPr/>
        </p:nvSpPr>
        <p:spPr>
          <a:xfrm>
            <a:off x="3337560" y="2880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per-class pixel frequency → computes inverse-frequency weights^0.5 to reduce rare-class neglect without over-correcting.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834640" cy="169164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54864" cy="169164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6" name="Text 24"/>
          <p:cNvSpPr/>
          <p:nvPr/>
        </p:nvSpPr>
        <p:spPr>
          <a:xfrm>
            <a:off x="6263640" y="2880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Mini-Batch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4612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image's pixel set is split into mini-batches of 16,384 pixels, enabling Adam optimisation without OOM errors.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2" name="Text 20"/>
          <p:cNvSpPr/>
          <p:nvPr/>
        </p:nvSpPr>
        <p:spPr>
          <a:xfrm>
            <a:off x="-91440" y="393192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nodes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(R, G, B)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" y="393192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nodes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(ReLU)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103120" y="393192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nodes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(ReLU)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200400" y="393192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nodes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(Softmax)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Model Architecture: [3 → 8 → 6 → 7]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Layer: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neurons — normalised R, G, B pixel values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754880" y="18288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Layer 1: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neurons with ReLU activation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754880" y="2331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Layer 2: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neurons with ReLU activation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754880" y="28346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Layer: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neurons with Softmax (class probabilities)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754880" y="3337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 Init: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 initialisation (std = √2/fan_in)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754880" y="38404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Activation: 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 hidden layers; Softmax output only for inference</a:t>
            </a:r>
            <a:endParaRPr lang="en-US" sz="1200" dirty="0"/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" y="1111250"/>
            <a:ext cx="4231640" cy="2821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Shape 2"/>
          <p:cNvSpPr/>
          <p:nvPr/>
        </p:nvSpPr>
        <p:spPr>
          <a:xfrm>
            <a:off x="274320" y="91440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55448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41148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(from scratch)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β₁=0.9, β₂=0.999, ε=1e-8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bias-corrected moments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54864" cy="155448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10" name="Text 8"/>
          <p:cNvSpPr/>
          <p:nvPr/>
        </p:nvSpPr>
        <p:spPr>
          <a:xfrm>
            <a:off x="333756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Cross-Entropy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Logit-stable: log-softmax 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Per-pixel class weights applied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54864" cy="155448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14" name="Text 12"/>
          <p:cNvSpPr/>
          <p:nvPr/>
        </p:nvSpPr>
        <p:spPr>
          <a:xfrm>
            <a:off x="6263640" y="1005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0.0015 (base)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Decayed ×0.90 each epoch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(LR Decay = Exponential)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54864" cy="1554480"/>
          </a:xfrm>
          <a:prstGeom prst="rect">
            <a:avLst/>
          </a:prstGeom>
          <a:solidFill>
            <a:srgbClr val="9B5DE5"/>
          </a:solidFill>
        </p:spPr>
      </p:sp>
      <p:sp>
        <p:nvSpPr>
          <p:cNvPr id="18" name="Text 16"/>
          <p:cNvSpPr/>
          <p:nvPr/>
        </p:nvSpPr>
        <p:spPr>
          <a:xfrm>
            <a:off x="41148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 Clipping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norm = 5.0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exploding gradients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 before Adam update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51760"/>
            <a:ext cx="54864" cy="155448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2" name="Text 20"/>
          <p:cNvSpPr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 Decay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1e-4 (L2 reg)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to gradient before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 updates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834640" cy="15544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54864" cy="155448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6" name="Text 24"/>
          <p:cNvSpPr/>
          <p:nvPr/>
        </p:nvSpPr>
        <p:spPr>
          <a:xfrm>
            <a:off x="626364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1089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(max)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stopping: patience=4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epoch weights saved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Mini-batch size: 16,384 pixels | Seed: 42 for reproducibility | Device: CUDA if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Epoch &amp; Early Stopping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9144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Best-Epoch Checkpointing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5720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each epoch, validation accuracy is computed.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 exceeds the previous best, model weights are saved (checkpoint).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stopping: if no improvement for 4 consecutive epochs, training halts.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model = weights from the best validation epoch (not the last epoch).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Early Stopping?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794760"/>
            <a:ext cx="4572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overfitting. The model may start memorising training pixels, hurting generalisation. Stopping at peak val accuracy ensures the best generalising weights are kept.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41148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Best epoch = peak of the curve → weights saved here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7837" y="758033"/>
            <a:ext cx="3353031" cy="15736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36" y="2377440"/>
            <a:ext cx="3353032" cy="1813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Ensemble?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Combining multiple diverse models reduces variance and bias compared to any single model. Diversity is the key — each member makes different errors.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2148840"/>
          <a:ext cx="7498080" cy="24688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1371600"/>
                <a:gridCol w="1371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Member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Architecture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Hidden Layers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Hidden Nodes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Learning 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[3 → 8 → 7]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8CA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[3 → 11 → 7]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8CA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0.00105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[3 → 8 → 5 → 7]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8,5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8CA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0.00180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[3 → 12 → 7]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8CA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0.001275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[3 → 5 → 4 → 7]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8CA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0.00165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strategy: varying hidden-layer count, node count, learning rate, and random seed across members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08" y="768096"/>
            <a:ext cx="3702255" cy="25549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4" y="750119"/>
            <a:ext cx="3754080" cy="25467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744" y="3330985"/>
            <a:ext cx="5333933" cy="17935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Majority Voting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Voting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572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pixel is independently classified by all 5 ensemble members.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predicted class from each member is collected into a vote.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torch.mode() selects the class receiving the most votes.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Ties are impossible: 5 members = always an odd number → guaranteed majority.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Odd Number of Members?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572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even number of classifiers can produce tied votes (e.g. 2 vs 2). An odd count (5 here) eliminates ties completely — one class always gets ≥3 votes.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91440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914400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165860"/>
            <a:ext cx="457200" cy="0"/>
          </a:xfrm>
          <a:prstGeom prst="line">
            <a:avLst/>
          </a:prstGeom>
          <a:noFill/>
          <a:ln w="12700">
            <a:solidFill>
              <a:srgbClr val="8BA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91440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Building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572768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572768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4228"/>
            <a:ext cx="457200" cy="0"/>
          </a:xfrm>
          <a:prstGeom prst="line">
            <a:avLst/>
          </a:prstGeom>
          <a:noFill/>
          <a:ln w="12700">
            <a:solidFill>
              <a:srgbClr val="8BAA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572768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Veg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2231136"/>
            <a:ext cx="914400" cy="502920"/>
          </a:xfrm>
          <a:prstGeom prst="roundRect">
            <a:avLst>
              <a:gd name="adj" fmla="val 9091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231136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482596"/>
            <a:ext cx="457200" cy="0"/>
          </a:xfrm>
          <a:prstGeom prst="line">
            <a:avLst/>
          </a:prstGeom>
          <a:noFill/>
          <a:ln w="12700">
            <a:solidFill>
              <a:srgbClr val="8BAA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31136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2889504"/>
            <a:ext cx="914400" cy="502920"/>
          </a:xfrm>
          <a:prstGeom prst="roundRect">
            <a:avLst>
              <a:gd name="adj" fmla="val 9091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889504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140964"/>
            <a:ext cx="457200" cy="0"/>
          </a:xfrm>
          <a:prstGeom prst="line">
            <a:avLst/>
          </a:prstGeom>
          <a:noFill/>
          <a:ln w="12700">
            <a:solidFill>
              <a:srgbClr val="8BA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889504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3547872"/>
            <a:ext cx="914400" cy="502920"/>
          </a:xfrm>
          <a:prstGeom prst="roundRect">
            <a:avLst>
              <a:gd name="adj" fmla="val 9091"/>
            </a:avLst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547872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799332"/>
            <a:ext cx="457200" cy="0"/>
          </a:xfrm>
          <a:prstGeom prst="line">
            <a:avLst/>
          </a:prstGeom>
          <a:noFill/>
          <a:ln w="12700">
            <a:solidFill>
              <a:srgbClr val="8BAA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547872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Veg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1161288"/>
            <a:ext cx="0" cy="2651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161288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813048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286000"/>
            <a:ext cx="822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Building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(3/5 votes)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Accuracy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Ensemble majority voting achieves the highest pixel accuracy, outperforming both the single model and all individual ensemble members.</a:t>
            </a:r>
            <a:endParaRPr lang="en-US" sz="1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144" y="820321"/>
            <a:ext cx="7320477" cy="36602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Visual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365760" y="1261872"/>
            <a:ext cx="3931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rcRect t="3544"/>
          <a:stretch>
            <a:fillRect/>
          </a:stretch>
        </p:blipFill>
        <p:spPr>
          <a:xfrm>
            <a:off x="2306550" y="933046"/>
            <a:ext cx="1834484" cy="197686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 t="7373"/>
          <a:stretch>
            <a:fillRect/>
          </a:stretch>
        </p:blipFill>
        <p:spPr>
          <a:xfrm>
            <a:off x="365760" y="933046"/>
            <a:ext cx="1739236" cy="194943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2" y="835935"/>
            <a:ext cx="3902910" cy="18889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07" y="2909912"/>
            <a:ext cx="1739236" cy="18790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402" y="2930486"/>
            <a:ext cx="1834483" cy="18462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173" y="2724912"/>
            <a:ext cx="3931920" cy="23628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 — Streamlit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Streamlit | Runs at localhost:8501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54864" cy="109728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411480" y="135331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Satellite 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uploads a PNG/JPG/JPEG satellite image (up to 200MB). Drag-and-drop or Browse 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61872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61872"/>
            <a:ext cx="54864" cy="109728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11" name="Text 9"/>
          <p:cNvSpPr/>
          <p:nvPr/>
        </p:nvSpPr>
        <p:spPr>
          <a:xfrm>
            <a:off x="4846320" y="135331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Ground Truth (Optional)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can optionally upload the corresponding mask for quantitative comparison.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23744"/>
            <a:ext cx="54864" cy="109728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15" name="Text 13"/>
          <p:cNvSpPr/>
          <p:nvPr/>
        </p:nvSpPr>
        <p:spPr>
          <a:xfrm>
            <a:off x="411480" y="2615184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vs Ensemble Toggle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980944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which model(s) to run — single MLP, individual ensemble members, or full majority-vote ensemble.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523744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23744"/>
            <a:ext cx="54864" cy="1097280"/>
          </a:xfrm>
          <a:prstGeom prst="rect">
            <a:avLst/>
          </a:prstGeom>
          <a:solidFill>
            <a:srgbClr val="9B5DE5"/>
          </a:solidFill>
        </p:spPr>
      </p:sp>
      <p:sp>
        <p:nvSpPr>
          <p:cNvPr id="19" name="Text 17"/>
          <p:cNvSpPr/>
          <p:nvPr/>
        </p:nvSpPr>
        <p:spPr>
          <a:xfrm>
            <a:off x="4846320" y="2615184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Legend Display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Colour-coded legend shown for all 6 land-cover classes: Building, Land, Road, Vegetation, Water, Unlabeled.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85616"/>
            <a:ext cx="54864" cy="109728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23" name="Text 21"/>
          <p:cNvSpPr/>
          <p:nvPr/>
        </p:nvSpPr>
        <p:spPr>
          <a:xfrm>
            <a:off x="411480" y="3877056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242816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| Ground Truth | Single Prediction | Ensemble Prediction shown side-by-side in a 4-panel view.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85616"/>
            <a:ext cx="4251960" cy="1097280"/>
          </a:xfrm>
          <a:prstGeom prst="rect">
            <a:avLst/>
          </a:prstGeom>
          <a:solidFill>
            <a:srgbClr val="1B2B3B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785616"/>
            <a:ext cx="54864" cy="1097280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7" name="Text 25"/>
          <p:cNvSpPr/>
          <p:nvPr/>
        </p:nvSpPr>
        <p:spPr>
          <a:xfrm>
            <a:off x="4846320" y="3877056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242816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ground truth is uploaded: Overall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&amp; Original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Libraries Used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Tensor ops, autograd, device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Array ops, pixel sampling, confusion matrix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39696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Pillow (PIL)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Image loading, resizing, RGB conversion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Training curves, accuracy bar charts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Interactive web GUI for inference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Pickle</a:t>
            </a:r>
            <a:r>
              <a:rPr lang="en-US" sz="12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Saving/loading trained model weights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from Scratch (No ML Libraries)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weight initialisation (He init)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pass with ReLU &amp; Softmax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75104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Logit-stable Cross-Entropy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optimiser (all moments from scratch)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88336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clipping &amp; L2 weight decay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04495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decay schedule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015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Best-epoch checkpointing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758184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 mapping &amp; Look-Up Table (LUT)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11480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Pixel-level accuracy metrics (OA)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471416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majority vote via torch.mode()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48CAE4">
              <a:alpha val="12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Ensemble majority voting outperforms the single MLP baseline on pixel accuracy.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All components (Adam, cross-entropy, backprop) implemented from scratch.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Best-epoch checkpointing + early stopping prevents overfitting effectively.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Streamlit GUI makes the pipeline accessible without code knowledge.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8412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Deeper architectures (CNNs or U-Net) for spatial context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41064"/>
            <a:ext cx="8412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ensemble members for further accuracy gains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270248"/>
            <a:ext cx="8412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augmentation to improve generalisation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99432"/>
            <a:ext cx="8412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Confusion-matrix visualisation in the GUI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7436</Words>
  <Application>WPS Presentation</Application>
  <PresentationFormat>On-screen Show (16:9)</PresentationFormat>
  <Paragraphs>423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Image Segmentation</dc:title>
  <dc:creator>Kajal</dc:creator>
  <dc:subject>PptxGenJS Presentation</dc:subject>
  <cp:lastModifiedBy>skaja</cp:lastModifiedBy>
  <cp:revision>20</cp:revision>
  <dcterms:created xsi:type="dcterms:W3CDTF">2026-05-02T17:34:00Z</dcterms:created>
  <dcterms:modified xsi:type="dcterms:W3CDTF">2026-05-04T07:19:45Z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A23857756A8444F7B23F61FBD6E8B998_13</vt:lpwstr>
  </property>
  <property fmtid="{D5CDD505-2E9C-101B-9397-08002B2CF9AE}" pid="3" name="KSOProductBuildVer">
    <vt:lpwstr>1033-12.1.0.25242</vt:lpwstr>
  </property>
</Properties>
</file>